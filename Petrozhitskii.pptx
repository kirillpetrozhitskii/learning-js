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Inter" panose="020B0604020202020204" charset="0"/>
      <p:regular r:id="rId11"/>
    </p:embeddedFont>
    <p:embeddedFont>
      <p:font typeface="Inter Bold" panose="020B0604020202020204" charset="0"/>
      <p:regular r:id="rId1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ill Petrozhitskii" userId="c7cd7ca9-898f-4580-9080-5a24be525dc5" providerId="ADAL" clId="{0ECBA59A-F459-46F9-8B36-68296F60FCA2}"/>
    <pc:docChg chg="custSel mod modSld modMainMaster">
      <pc:chgData name="Kirill Petrozhitskii" userId="c7cd7ca9-898f-4580-9080-5a24be525dc5" providerId="ADAL" clId="{0ECBA59A-F459-46F9-8B36-68296F60FCA2}" dt="2026-09-27T21:13:10.721" v="14" actId="33475"/>
      <pc:docMkLst>
        <pc:docMk/>
      </pc:docMkLst>
      <pc:sldChg chg="modSp mod">
        <pc:chgData name="Kirill Petrozhitskii" userId="c7cd7ca9-898f-4580-9080-5a24be525dc5" providerId="ADAL" clId="{0ECBA59A-F459-46F9-8B36-68296F60FCA2}" dt="2026-09-27T21:02:26.069" v="12" actId="1076"/>
        <pc:sldMkLst>
          <pc:docMk/>
          <pc:sldMk cId="0" sldId="258"/>
        </pc:sldMkLst>
        <pc:spChg chg="mod">
          <ac:chgData name="Kirill Petrozhitskii" userId="c7cd7ca9-898f-4580-9080-5a24be525dc5" providerId="ADAL" clId="{0ECBA59A-F459-46F9-8B36-68296F60FCA2}" dt="2026-09-27T21:02:26.069" v="12" actId="1076"/>
          <ac:spMkLst>
            <pc:docMk/>
            <pc:sldMk cId="0" sldId="258"/>
            <ac:spMk id="2" creationId="{00000000-0000-0000-0000-000000000000}"/>
          </ac:spMkLst>
        </pc:spChg>
        <pc:picChg chg="mod">
          <ac:chgData name="Kirill Petrozhitskii" userId="c7cd7ca9-898f-4580-9080-5a24be525dc5" providerId="ADAL" clId="{0ECBA59A-F459-46F9-8B36-68296F60FCA2}" dt="2026-09-27T21:01:32.706" v="5" actId="1076"/>
          <ac:picMkLst>
            <pc:docMk/>
            <pc:sldMk cId="0" sldId="258"/>
            <ac:picMk id="3" creationId="{00000000-0000-0000-0000-000000000000}"/>
          </ac:picMkLst>
        </pc:picChg>
        <pc:picChg chg="mod">
          <ac:chgData name="Kirill Petrozhitskii" userId="c7cd7ca9-898f-4580-9080-5a24be525dc5" providerId="ADAL" clId="{0ECBA59A-F459-46F9-8B36-68296F60FCA2}" dt="2026-09-27T21:01:42.050" v="8" actId="1076"/>
          <ac:picMkLst>
            <pc:docMk/>
            <pc:sldMk cId="0" sldId="258"/>
            <ac:picMk id="6" creationId="{00000000-0000-0000-0000-000000000000}"/>
          </ac:picMkLst>
        </pc:picChg>
        <pc:picChg chg="mod">
          <ac:chgData name="Kirill Petrozhitskii" userId="c7cd7ca9-898f-4580-9080-5a24be525dc5" providerId="ADAL" clId="{0ECBA59A-F459-46F9-8B36-68296F60FCA2}" dt="2026-09-27T21:02:07.043" v="11" actId="1076"/>
          <ac:picMkLst>
            <pc:docMk/>
            <pc:sldMk cId="0" sldId="258"/>
            <ac:picMk id="9" creationId="{00000000-0000-0000-0000-000000000000}"/>
          </ac:picMkLst>
        </pc:picChg>
      </pc:sldChg>
      <pc:sldMasterChg chg="addSp modSp mod modSldLayout">
        <pc:chgData name="Kirill Petrozhitskii" userId="c7cd7ca9-898f-4580-9080-5a24be525dc5" providerId="ADAL" clId="{0ECBA59A-F459-46F9-8B36-68296F60FCA2}" dt="2026-09-27T21:13:10.709" v="13" actId="33475"/>
        <pc:sldMasterMkLst>
          <pc:docMk/>
          <pc:sldMasterMk cId="0" sldId="2147483648"/>
        </pc:sldMasterMkLst>
        <pc:spChg chg="add mod">
          <ac:chgData name="Kirill Petrozhitskii" userId="c7cd7ca9-898f-4580-9080-5a24be525dc5" providerId="ADAL" clId="{0ECBA59A-F459-46F9-8B36-68296F60FCA2}" dt="2026-09-27T21:13:10.709" v="13" actId="33475"/>
          <ac:spMkLst>
            <pc:docMk/>
            <pc:sldMasterMk cId="0" sldId="2147483648"/>
            <ac:spMk id="3" creationId="{B9E75C9E-B26C-33BA-431D-A4E14708B0C5}"/>
          </ac:spMkLst>
        </pc:spChg>
        <pc:sldLayoutChg chg="delSp mod">
          <pc:chgData name="Kirill Petrozhitskii" userId="c7cd7ca9-898f-4580-9080-5a24be525dc5" providerId="ADAL" clId="{0ECBA59A-F459-46F9-8B36-68296F60FCA2}" dt="2026-09-27T21:00:37.339" v="0" actId="478"/>
          <pc:sldLayoutMkLst>
            <pc:docMk/>
            <pc:sldMasterMk cId="0" sldId="2147483648"/>
            <pc:sldLayoutMk cId="0" sldId="2147483650"/>
          </pc:sldLayoutMkLst>
          <pc:picChg chg="del">
            <ac:chgData name="Kirill Petrozhitskii" userId="c7cd7ca9-898f-4580-9080-5a24be525dc5" providerId="ADAL" clId="{0ECBA59A-F459-46F9-8B36-68296F60FCA2}" dt="2026-09-27T21:00:37.339" v="0" actId="478"/>
            <ac:picMkLst>
              <pc:docMk/>
              <pc:sldMasterMk cId="0" sldId="2147483648"/>
              <pc:sldLayoutMk cId="0" sldId="2147483650"/>
              <ac:picMk id="4"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6284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Guten Tag! Mein Name ist Kirill Petrozhitskii. Ich mache meine Ausbildung zum Fachinformatiker für Anwendungsentwicklung bei NTT. Heute erzähle ich euch von meiner Ausbildung — was ich bisher gelernt habe, welche Erfahrungen ich gesammelt habe und was ich für die Zukunft plane. Die Präsentation dauert etwa zehn bis fünfzehn Minuten.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Zuerst erzähle ich, wie mein Start in die Ausbildung war. Dann zeige ich, was ich bisher gelernt habe — also welche Technologien und Tools ich kennengelernt habe. Danach spreche ich über meine praktischen Erfahrungen bei echten Projekten. Anschließend sage ich euch meine ehrliche Meinung zur Ausbildung. Und zum Schluss erzähle ich, was ich als Nächstes vorhabe und welche Ziele ich habe.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der Ausbildung habe ich die Grundlagen in Python und JavaScript gelernt. Außerdem habe ich mich mit Webentwicklung beschäftigt. Mein Wissen ist noch grundlegend — selbstständig Code schreiben ist noch schwierig. Aber ich verstehe jetzt besser, welche Technologien es gibt und wo ich noch Lücken habe. Ich habe auch Git und GitHub gelernt und ein Zertifikat bekommen. In meiner Firma sind Zertifikate sehr wichtig. Außerdem hatte ich erste Einblicke in die Microsoft Power Platform.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möchte zwei praktische Beispiele nennen. Erstens: Ich war bei einem Einsatz in Gießen an einer Hochschule. Dort habe ich Windows-Updates auf Computern durchgeführt und Systemeinstellungen angepasst. Das war eine gute Erfahrung, weil ich gesehen habe, wie IT-Arbeit im echten Betrieb funktioniert. Zweitens: Ich habe an einem internen Projekt mitgearbeitet — einem Copilot Dashboard. Die Idee ist, dass Mitarbeiter sehen können, wie sie KI-Tools nutzen: welche Modelle und wie oft pro Monat. Das Projekt ist noch nicht fertig, und ich habe nicht alles allein gemacht, aber es war interessant, daran mitzuarbeiten.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bin mit der Ausbildung insgesamt zufrieden. Was mir gut gefällt: Es gibt Gleitzeit und flexible Absprachen, und ich habe viel Freiraum beim Lernen. Durch das Selbststudium bin ich auch etwas selbstständiger geworden. Was ich aber brauche, sind klarere Lernschritte. Als Anfänger ohne Erfahrung ist es schwer, selbst zu entscheiden, in welcher Reihenfolge man lernen soll. Manchmal habe ich zu lange an Themen gearbeitet, die im Moment nicht so wichtig waren. Ich denke, strukturierte Aufgaben und regelmäßige Gespräche mit dem Ausbilder würden mir helfen. Das ist meine persönliche Einschätzung.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Meine nächsten Ziele: Erstens möchte ich meine Programmiergrundlagen verbessern — mehr üben und sicherer werden. Zweitens möchte ich die Abschlussprüfungen AP1 und AP2 erfolgreich bestehen. Dafür brauche ich einen guten Lernplan und regelmäßige Übung. Drittens möchte ich mich mit Cloud-Technologien wie Azure und mit IT-Sicherheit beschäftigen. Und viertens möchte ich herausfinden, in welche Richtung ich mich beruflich entwickeln möchte. Einen festen Karriereplan habe ich noch nicht, aber ich kann mir vorstellen, nach der Ausbildung in meiner jetzigen Firma zu bleiben. Vielen Dank fürs Zuhören!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BFCFE"/>
          </a:solidFill>
          <a:ln/>
        </p:spPr>
        <p:txBody>
          <a:bodyPr/>
          <a:lstStyle/>
          <a:p>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E75C9E-B26C-33BA-431D-A4E14708B0C5}"/>
              </a:ext>
            </a:extLst>
          </p:cNvPr>
          <p:cNvSpPr txBox="1"/>
          <p:nvPr>
            <p:extLst>
              <p:ext uri="{1162E1C5-73C7-4A58-AE30-91384D911F3F}">
                <p184:classification xmlns:p184="http://schemas.microsoft.com/office/powerpoint/2018/4/main" val="ftr"/>
              </p:ext>
            </p:extLst>
          </p:nvPr>
        </p:nvSpPr>
        <p:spPr>
          <a:xfrm>
            <a:off x="5559425" y="6672580"/>
            <a:ext cx="1101725" cy="121920"/>
          </a:xfrm>
          <a:prstGeom prst="rect">
            <a:avLst/>
          </a:prstGeom>
        </p:spPr>
        <p:txBody>
          <a:bodyPr horzOverflow="overflow" lIns="0" tIns="0" rIns="0" bIns="0">
            <a:spAutoFit/>
          </a:bodyPr>
          <a:lstStyle/>
          <a:p>
            <a:pPr algn="l"/>
            <a:r>
              <a:rPr lang="de-DE" sz="800">
                <a:solidFill>
                  <a:srgbClr val="2E404D">
                    <a:alpha val="50000"/>
                  </a:srgbClr>
                </a:solidFill>
                <a:latin typeface="Arial" panose="020B0604020202020204" pitchFamily="34" charset="0"/>
                <a:cs typeface="Arial" panose="020B0604020202020204" pitchFamily="34" charset="0"/>
              </a:rPr>
              <a:t>Sensitivity Label: Public</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9ECF2"/>
          </a:solidFill>
          <a:ln/>
        </p:spPr>
        <p:txBody>
          <a:bodyPr/>
          <a:lstStyle/>
          <a:p>
            <a:endParaRPr lang="de-DE"/>
          </a:p>
        </p:txBody>
      </p:sp>
      <p:pic>
        <p:nvPicPr>
          <p:cNvPr id="3" name="Image 0" descr="preencoded.png"/>
          <p:cNvPicPr>
            <a:picLocks noChangeAspect="1"/>
          </p:cNvPicPr>
          <p:nvPr/>
        </p:nvPicPr>
        <p:blipFill>
          <a:blip r:embed="rId3"/>
          <a:stretch>
            <a:fillRect/>
          </a:stretch>
        </p:blipFill>
        <p:spPr>
          <a:xfrm>
            <a:off x="94454" y="2979738"/>
            <a:ext cx="4382879" cy="898525"/>
          </a:xfrm>
          <a:prstGeom prst="rect">
            <a:avLst/>
          </a:prstGeom>
        </p:spPr>
      </p:pic>
      <p:sp>
        <p:nvSpPr>
          <p:cNvPr id="4" name="Shape 1"/>
          <p:cNvSpPr/>
          <p:nvPr/>
        </p:nvSpPr>
        <p:spPr>
          <a:xfrm>
            <a:off x="5233360" y="2659360"/>
            <a:ext cx="1842942" cy="287139"/>
          </a:xfrm>
          <a:prstGeom prst="roundRect">
            <a:avLst>
              <a:gd name="adj" fmla="val 22118"/>
            </a:avLst>
          </a:prstGeom>
          <a:noFill/>
          <a:ln w="6350">
            <a:solidFill>
              <a:srgbClr val="3257B8"/>
            </a:solidFill>
            <a:prstDash val="solid"/>
          </a:ln>
        </p:spPr>
        <p:txBody>
          <a:bodyPr/>
          <a:lstStyle/>
          <a:p>
            <a:endParaRPr lang="de-DE"/>
          </a:p>
        </p:txBody>
      </p:sp>
      <p:sp>
        <p:nvSpPr>
          <p:cNvPr id="5" name="Text 2"/>
          <p:cNvSpPr/>
          <p:nvPr/>
        </p:nvSpPr>
        <p:spPr>
          <a:xfrm>
            <a:off x="5346765" y="2716014"/>
            <a:ext cx="2225719" cy="173831"/>
          </a:xfrm>
          <a:prstGeom prst="rect">
            <a:avLst/>
          </a:prstGeom>
          <a:noFill/>
          <a:ln/>
        </p:spPr>
        <p:txBody>
          <a:bodyPr wrap="none" lIns="0" tIns="0" rIns="0" bIns="0" rtlCol="0" anchor="t"/>
          <a:lstStyle/>
          <a:p>
            <a:pPr marL="0" indent="0" algn="l">
              <a:lnSpc>
                <a:spcPct val="96000"/>
              </a:lnSpc>
              <a:buNone/>
            </a:pPr>
            <a:r>
              <a:rPr lang="en-US" sz="1150" dirty="0">
                <a:solidFill>
                  <a:srgbClr val="3257B8"/>
                </a:solidFill>
                <a:latin typeface="Inter" pitchFamily="34" charset="0"/>
                <a:ea typeface="Inter" pitchFamily="34" charset="-122"/>
                <a:cs typeface="Inter" pitchFamily="34" charset="-120"/>
              </a:rPr>
              <a:t>KIRILL PETROZHITSKII</a:t>
            </a:r>
            <a:endParaRPr lang="en-US" sz="1150" dirty="0"/>
          </a:p>
        </p:txBody>
      </p:sp>
      <p:sp>
        <p:nvSpPr>
          <p:cNvPr id="6" name="Text 3"/>
          <p:cNvSpPr/>
          <p:nvPr/>
        </p:nvSpPr>
        <p:spPr>
          <a:xfrm>
            <a:off x="5233360" y="3022104"/>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Inter Bold" pitchFamily="34" charset="0"/>
                <a:ea typeface="Inter Bold" pitchFamily="34" charset="-122"/>
                <a:cs typeface="Inter Bold" pitchFamily="34" charset="-120"/>
              </a:rPr>
              <a:t>Meine Ausbildung</a:t>
            </a:r>
            <a:endParaRPr lang="en-US" sz="3700" dirty="0"/>
          </a:p>
        </p:txBody>
      </p:sp>
      <p:sp>
        <p:nvSpPr>
          <p:cNvPr id="7" name="Text 4"/>
          <p:cNvSpPr/>
          <p:nvPr/>
        </p:nvSpPr>
        <p:spPr>
          <a:xfrm>
            <a:off x="5233360" y="3896221"/>
            <a:ext cx="6906444"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Fachinformatiker für Anwendungsentwicklung · NTT</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408609"/>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Inter Bold" pitchFamily="34" charset="0"/>
                <a:ea typeface="Inter Bold" pitchFamily="34" charset="-122"/>
                <a:cs typeface="Inter Bold" pitchFamily="34" charset="-120"/>
              </a:rPr>
              <a:t>Überblick</a:t>
            </a:r>
            <a:endParaRPr lang="en-US" sz="3700" dirty="0"/>
          </a:p>
        </p:txBody>
      </p:sp>
      <p:sp>
        <p:nvSpPr>
          <p:cNvPr id="3" name="Text 1"/>
          <p:cNvSpPr/>
          <p:nvPr/>
        </p:nvSpPr>
        <p:spPr>
          <a:xfrm>
            <a:off x="661475" y="237728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272525"/>
                </a:solidFill>
                <a:latin typeface="Inter Light" pitchFamily="34" charset="0"/>
                <a:ea typeface="Inter Light" pitchFamily="34" charset="-122"/>
                <a:cs typeface="Inter Light" pitchFamily="34" charset="-120"/>
              </a:rPr>
              <a:t>01</a:t>
            </a:r>
            <a:endParaRPr lang="en-US" sz="1450" dirty="0"/>
          </a:p>
        </p:txBody>
      </p:sp>
      <p:sp>
        <p:nvSpPr>
          <p:cNvPr id="4" name="Shape 2"/>
          <p:cNvSpPr/>
          <p:nvPr/>
        </p:nvSpPr>
        <p:spPr>
          <a:xfrm>
            <a:off x="661475" y="2673152"/>
            <a:ext cx="3496877" cy="25400"/>
          </a:xfrm>
          <a:prstGeom prst="rect">
            <a:avLst/>
          </a:prstGeom>
          <a:solidFill>
            <a:srgbClr val="476FD6"/>
          </a:solidFill>
          <a:ln/>
        </p:spPr>
        <p:txBody>
          <a:bodyPr/>
          <a:lstStyle/>
          <a:p>
            <a:endParaRPr lang="de-DE"/>
          </a:p>
        </p:txBody>
      </p:sp>
      <p:sp>
        <p:nvSpPr>
          <p:cNvPr id="5" name="Text 3"/>
          <p:cNvSpPr/>
          <p:nvPr/>
        </p:nvSpPr>
        <p:spPr>
          <a:xfrm>
            <a:off x="661475" y="2818408"/>
            <a:ext cx="3496877" cy="590550"/>
          </a:xfrm>
          <a:prstGeom prst="rect">
            <a:avLst/>
          </a:prstGeom>
          <a:noFill/>
          <a:ln/>
        </p:spPr>
        <p:txBody>
          <a:bodyPr wrap="square" lIns="0" tIns="0" rIns="0" bIns="0" rtlCol="0" anchor="t">
            <a:normAutofit/>
          </a:bodyPr>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Was mir die Ausbildung gebracht hat</a:t>
            </a:r>
            <a:endParaRPr lang="en-US" sz="1850" dirty="0"/>
          </a:p>
        </p:txBody>
      </p:sp>
      <p:sp>
        <p:nvSpPr>
          <p:cNvPr id="6" name="Text 4"/>
          <p:cNvSpPr/>
          <p:nvPr/>
        </p:nvSpPr>
        <p:spPr>
          <a:xfrm>
            <a:off x="661475" y="3522365"/>
            <a:ext cx="3496877"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Ein erster Überblick über die IT</a:t>
            </a:r>
            <a:endParaRPr lang="en-US" sz="1450" dirty="0"/>
          </a:p>
        </p:txBody>
      </p:sp>
      <p:sp>
        <p:nvSpPr>
          <p:cNvPr id="7" name="Text 5"/>
          <p:cNvSpPr/>
          <p:nvPr/>
        </p:nvSpPr>
        <p:spPr>
          <a:xfrm>
            <a:off x="4347359" y="237728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272525"/>
                </a:solidFill>
                <a:latin typeface="Inter Light" pitchFamily="34" charset="0"/>
                <a:ea typeface="Inter Light" pitchFamily="34" charset="-122"/>
                <a:cs typeface="Inter Light" pitchFamily="34" charset="-120"/>
              </a:rPr>
              <a:t>02</a:t>
            </a:r>
            <a:endParaRPr lang="en-US" sz="1450" dirty="0"/>
          </a:p>
        </p:txBody>
      </p:sp>
      <p:sp>
        <p:nvSpPr>
          <p:cNvPr id="8" name="Shape 6"/>
          <p:cNvSpPr/>
          <p:nvPr/>
        </p:nvSpPr>
        <p:spPr>
          <a:xfrm>
            <a:off x="4347359" y="2692003"/>
            <a:ext cx="3496877" cy="25400"/>
          </a:xfrm>
          <a:prstGeom prst="rect">
            <a:avLst/>
          </a:prstGeom>
          <a:solidFill>
            <a:srgbClr val="476FD6"/>
          </a:solidFill>
          <a:ln/>
        </p:spPr>
        <p:txBody>
          <a:bodyPr/>
          <a:lstStyle/>
          <a:p>
            <a:endParaRPr lang="de-DE"/>
          </a:p>
        </p:txBody>
      </p:sp>
      <p:sp>
        <p:nvSpPr>
          <p:cNvPr id="9" name="Text 7"/>
          <p:cNvSpPr/>
          <p:nvPr/>
        </p:nvSpPr>
        <p:spPr>
          <a:xfrm>
            <a:off x="4347359" y="2818408"/>
            <a:ext cx="3496877"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Was ich gelernt habe</a:t>
            </a:r>
            <a:endParaRPr lang="en-US" sz="1850" dirty="0"/>
          </a:p>
        </p:txBody>
      </p:sp>
      <p:sp>
        <p:nvSpPr>
          <p:cNvPr id="10" name="Text 8"/>
          <p:cNvSpPr/>
          <p:nvPr/>
        </p:nvSpPr>
        <p:spPr>
          <a:xfrm>
            <a:off x="4347359" y="3227090"/>
            <a:ext cx="3496877"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Technologien und Zertifikate</a:t>
            </a:r>
            <a:endParaRPr lang="en-US" sz="1450" dirty="0"/>
          </a:p>
        </p:txBody>
      </p:sp>
      <p:sp>
        <p:nvSpPr>
          <p:cNvPr id="11" name="Text 9"/>
          <p:cNvSpPr/>
          <p:nvPr/>
        </p:nvSpPr>
        <p:spPr>
          <a:xfrm>
            <a:off x="8033244" y="237728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272525"/>
                </a:solidFill>
                <a:latin typeface="Inter Light" pitchFamily="34" charset="0"/>
                <a:ea typeface="Inter Light" pitchFamily="34" charset="-122"/>
                <a:cs typeface="Inter Light" pitchFamily="34" charset="-120"/>
              </a:rPr>
              <a:t>03</a:t>
            </a:r>
            <a:endParaRPr lang="en-US" sz="1450" dirty="0"/>
          </a:p>
        </p:txBody>
      </p:sp>
      <p:sp>
        <p:nvSpPr>
          <p:cNvPr id="12" name="Shape 10"/>
          <p:cNvSpPr/>
          <p:nvPr/>
        </p:nvSpPr>
        <p:spPr>
          <a:xfrm>
            <a:off x="8033244" y="2692003"/>
            <a:ext cx="3496877" cy="25400"/>
          </a:xfrm>
          <a:prstGeom prst="rect">
            <a:avLst/>
          </a:prstGeom>
          <a:solidFill>
            <a:srgbClr val="476FD6"/>
          </a:solidFill>
          <a:ln/>
        </p:spPr>
        <p:txBody>
          <a:bodyPr/>
          <a:lstStyle/>
          <a:p>
            <a:endParaRPr lang="de-DE"/>
          </a:p>
        </p:txBody>
      </p:sp>
      <p:sp>
        <p:nvSpPr>
          <p:cNvPr id="13" name="Text 11"/>
          <p:cNvSpPr/>
          <p:nvPr/>
        </p:nvSpPr>
        <p:spPr>
          <a:xfrm>
            <a:off x="8033244" y="2818408"/>
            <a:ext cx="3496877"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Praktische Erfahrungen</a:t>
            </a:r>
            <a:endParaRPr lang="en-US" sz="1850" dirty="0"/>
          </a:p>
        </p:txBody>
      </p:sp>
      <p:sp>
        <p:nvSpPr>
          <p:cNvPr id="14" name="Text 12"/>
          <p:cNvSpPr/>
          <p:nvPr/>
        </p:nvSpPr>
        <p:spPr>
          <a:xfrm>
            <a:off x="8033244" y="3227090"/>
            <a:ext cx="3496877"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Projekte und Einsätze</a:t>
            </a:r>
            <a:endParaRPr lang="en-US" sz="1450" dirty="0"/>
          </a:p>
        </p:txBody>
      </p:sp>
      <p:sp>
        <p:nvSpPr>
          <p:cNvPr id="15" name="Text 13"/>
          <p:cNvSpPr/>
          <p:nvPr/>
        </p:nvSpPr>
        <p:spPr>
          <a:xfrm>
            <a:off x="661475" y="4155480"/>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272525"/>
                </a:solidFill>
                <a:latin typeface="Inter Light" pitchFamily="34" charset="0"/>
                <a:ea typeface="Inter Light" pitchFamily="34" charset="-122"/>
                <a:cs typeface="Inter Light" pitchFamily="34" charset="-120"/>
              </a:rPr>
              <a:t>04</a:t>
            </a:r>
            <a:endParaRPr lang="en-US" sz="1450" dirty="0"/>
          </a:p>
        </p:txBody>
      </p:sp>
      <p:sp>
        <p:nvSpPr>
          <p:cNvPr id="16" name="Shape 14"/>
          <p:cNvSpPr/>
          <p:nvPr/>
        </p:nvSpPr>
        <p:spPr>
          <a:xfrm>
            <a:off x="661475" y="4432399"/>
            <a:ext cx="5339820" cy="25400"/>
          </a:xfrm>
          <a:prstGeom prst="rect">
            <a:avLst/>
          </a:prstGeom>
          <a:solidFill>
            <a:srgbClr val="476FD6"/>
          </a:solidFill>
          <a:ln/>
        </p:spPr>
        <p:txBody>
          <a:bodyPr/>
          <a:lstStyle/>
          <a:p>
            <a:endParaRPr lang="de-DE"/>
          </a:p>
        </p:txBody>
      </p:sp>
      <p:sp>
        <p:nvSpPr>
          <p:cNvPr id="17" name="Text 15"/>
          <p:cNvSpPr/>
          <p:nvPr/>
        </p:nvSpPr>
        <p:spPr>
          <a:xfrm>
            <a:off x="661475" y="4596606"/>
            <a:ext cx="5339820"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Wie ich die Ausbildung finde</a:t>
            </a:r>
            <a:endParaRPr lang="en-US" sz="1850" dirty="0"/>
          </a:p>
        </p:txBody>
      </p:sp>
      <p:sp>
        <p:nvSpPr>
          <p:cNvPr id="18" name="Text 16"/>
          <p:cNvSpPr/>
          <p:nvPr/>
        </p:nvSpPr>
        <p:spPr>
          <a:xfrm>
            <a:off x="661475" y="5005288"/>
            <a:ext cx="533982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Persönliche Einschätzung</a:t>
            </a:r>
            <a:endParaRPr lang="en-US" sz="1450" dirty="0"/>
          </a:p>
        </p:txBody>
      </p:sp>
      <p:sp>
        <p:nvSpPr>
          <p:cNvPr id="19" name="Text 17"/>
          <p:cNvSpPr/>
          <p:nvPr/>
        </p:nvSpPr>
        <p:spPr>
          <a:xfrm>
            <a:off x="6190301" y="4155480"/>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272525"/>
                </a:solidFill>
                <a:latin typeface="Inter Light" pitchFamily="34" charset="0"/>
                <a:ea typeface="Inter Light" pitchFamily="34" charset="-122"/>
                <a:cs typeface="Inter Light" pitchFamily="34" charset="-120"/>
              </a:rPr>
              <a:t>05</a:t>
            </a:r>
            <a:endParaRPr lang="en-US" sz="1450" dirty="0"/>
          </a:p>
        </p:txBody>
      </p:sp>
      <p:sp>
        <p:nvSpPr>
          <p:cNvPr id="20" name="Shape 18"/>
          <p:cNvSpPr/>
          <p:nvPr/>
        </p:nvSpPr>
        <p:spPr>
          <a:xfrm>
            <a:off x="6190301" y="4432399"/>
            <a:ext cx="5339820" cy="25400"/>
          </a:xfrm>
          <a:prstGeom prst="rect">
            <a:avLst/>
          </a:prstGeom>
          <a:solidFill>
            <a:srgbClr val="476FD6"/>
          </a:solidFill>
          <a:ln/>
        </p:spPr>
        <p:txBody>
          <a:bodyPr/>
          <a:lstStyle/>
          <a:p>
            <a:endParaRPr lang="de-DE"/>
          </a:p>
        </p:txBody>
      </p:sp>
      <p:sp>
        <p:nvSpPr>
          <p:cNvPr id="21" name="Text 19"/>
          <p:cNvSpPr/>
          <p:nvPr/>
        </p:nvSpPr>
        <p:spPr>
          <a:xfrm>
            <a:off x="6190301" y="4596606"/>
            <a:ext cx="5339820"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Ziele und Ausblick</a:t>
            </a:r>
            <a:endParaRPr lang="en-US" sz="1850" dirty="0"/>
          </a:p>
        </p:txBody>
      </p:sp>
      <p:sp>
        <p:nvSpPr>
          <p:cNvPr id="22" name="Text 20"/>
          <p:cNvSpPr/>
          <p:nvPr/>
        </p:nvSpPr>
        <p:spPr>
          <a:xfrm>
            <a:off x="6190301" y="5005288"/>
            <a:ext cx="533982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Was kommt als Nächstes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667469"/>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Inter Bold" pitchFamily="34" charset="0"/>
                <a:ea typeface="Inter Bold" pitchFamily="34" charset="-122"/>
                <a:cs typeface="Inter Bold" pitchFamily="34" charset="-120"/>
              </a:rPr>
              <a:t>Was mir die Ausbildung gebracht hat</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40135" y="3006130"/>
            <a:ext cx="558785" cy="558800"/>
          </a:xfrm>
          <a:prstGeom prst="rect">
            <a:avLst/>
          </a:prstGeom>
        </p:spPr>
      </p:pic>
      <p:sp>
        <p:nvSpPr>
          <p:cNvPr id="4" name="Shape 1"/>
          <p:cNvSpPr/>
          <p:nvPr/>
        </p:nvSpPr>
        <p:spPr>
          <a:xfrm>
            <a:off x="661475" y="3622477"/>
            <a:ext cx="3496877" cy="25400"/>
          </a:xfrm>
          <a:prstGeom prst="rect">
            <a:avLst/>
          </a:prstGeom>
          <a:solidFill>
            <a:srgbClr val="476FD6"/>
          </a:solidFill>
          <a:ln/>
        </p:spPr>
        <p:txBody>
          <a:bodyPr/>
          <a:lstStyle/>
          <a:p>
            <a:endParaRPr lang="de-DE"/>
          </a:p>
        </p:txBody>
      </p:sp>
      <p:sp>
        <p:nvSpPr>
          <p:cNvPr id="5" name="Text 2"/>
          <p:cNvSpPr/>
          <p:nvPr/>
        </p:nvSpPr>
        <p:spPr>
          <a:xfrm>
            <a:off x="661475" y="3767733"/>
            <a:ext cx="3496877" cy="590550"/>
          </a:xfrm>
          <a:prstGeom prst="rect">
            <a:avLst/>
          </a:prstGeom>
          <a:noFill/>
          <a:ln/>
        </p:spPr>
        <p:txBody>
          <a:bodyPr wrap="square" lIns="0" tIns="0" rIns="0" bIns="0" rtlCol="0" anchor="t">
            <a:normAutofit/>
          </a:bodyPr>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Ein erster Überblick über die IT</a:t>
            </a:r>
            <a:endParaRPr lang="en-US" sz="18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16404" y="3046170"/>
            <a:ext cx="558785" cy="558800"/>
          </a:xfrm>
          <a:prstGeom prst="rect">
            <a:avLst/>
          </a:prstGeom>
        </p:spPr>
      </p:pic>
      <p:sp>
        <p:nvSpPr>
          <p:cNvPr id="7" name="Shape 3"/>
          <p:cNvSpPr/>
          <p:nvPr/>
        </p:nvSpPr>
        <p:spPr>
          <a:xfrm>
            <a:off x="4347359" y="3622477"/>
            <a:ext cx="3496877" cy="25400"/>
          </a:xfrm>
          <a:prstGeom prst="rect">
            <a:avLst/>
          </a:prstGeom>
          <a:solidFill>
            <a:srgbClr val="476FD6"/>
          </a:solidFill>
          <a:ln/>
        </p:spPr>
        <p:txBody>
          <a:bodyPr/>
          <a:lstStyle/>
          <a:p>
            <a:endParaRPr lang="de-DE"/>
          </a:p>
        </p:txBody>
      </p:sp>
      <p:sp>
        <p:nvSpPr>
          <p:cNvPr id="8" name="Text 4"/>
          <p:cNvSpPr/>
          <p:nvPr/>
        </p:nvSpPr>
        <p:spPr>
          <a:xfrm>
            <a:off x="4347359" y="3767733"/>
            <a:ext cx="3496877" cy="590550"/>
          </a:xfrm>
          <a:prstGeom prst="rect">
            <a:avLst/>
          </a:prstGeom>
          <a:noFill/>
          <a:ln/>
        </p:spPr>
        <p:txBody>
          <a:bodyPr wrap="square" lIns="0" tIns="0" rIns="0" bIns="0" rtlCol="0" anchor="t">
            <a:normAutofit/>
          </a:bodyPr>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Erste Erfahrungen in der Praxis</a:t>
            </a:r>
            <a:endParaRPr lang="en-US" sz="18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02289" y="3046170"/>
            <a:ext cx="558785" cy="558800"/>
          </a:xfrm>
          <a:prstGeom prst="rect">
            <a:avLst/>
          </a:prstGeom>
        </p:spPr>
      </p:pic>
      <p:sp>
        <p:nvSpPr>
          <p:cNvPr id="10" name="Shape 5"/>
          <p:cNvSpPr/>
          <p:nvPr/>
        </p:nvSpPr>
        <p:spPr>
          <a:xfrm>
            <a:off x="8033244" y="3622477"/>
            <a:ext cx="3496877" cy="25400"/>
          </a:xfrm>
          <a:prstGeom prst="rect">
            <a:avLst/>
          </a:prstGeom>
          <a:solidFill>
            <a:srgbClr val="476FD6"/>
          </a:solidFill>
          <a:ln/>
        </p:spPr>
        <p:txBody>
          <a:bodyPr/>
          <a:lstStyle/>
          <a:p>
            <a:endParaRPr lang="de-DE"/>
          </a:p>
        </p:txBody>
      </p:sp>
      <p:sp>
        <p:nvSpPr>
          <p:cNvPr id="11" name="Text 6"/>
          <p:cNvSpPr/>
          <p:nvPr/>
        </p:nvSpPr>
        <p:spPr>
          <a:xfrm>
            <a:off x="8033244" y="3767733"/>
            <a:ext cx="3496877" cy="590550"/>
          </a:xfrm>
          <a:prstGeom prst="rect">
            <a:avLst/>
          </a:prstGeom>
          <a:noFill/>
          <a:ln/>
        </p:spPr>
        <p:txBody>
          <a:bodyPr wrap="square" lIns="0" tIns="0" rIns="0" bIns="0" rtlCol="0" anchor="t">
            <a:normAutofit/>
          </a:bodyPr>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Die eigenen Kenntnisse besser einschätzen</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1957189"/>
            <a:ext cx="2053876" cy="287139"/>
          </a:xfrm>
          <a:prstGeom prst="roundRect">
            <a:avLst>
              <a:gd name="adj" fmla="val 22118"/>
            </a:avLst>
          </a:prstGeom>
          <a:solidFill>
            <a:srgbClr val="D7DFF4"/>
          </a:solidFill>
          <a:ln/>
        </p:spPr>
        <p:txBody>
          <a:bodyPr/>
          <a:lstStyle/>
          <a:p>
            <a:endParaRPr lang="de-DE"/>
          </a:p>
        </p:txBody>
      </p:sp>
      <p:sp>
        <p:nvSpPr>
          <p:cNvPr id="3" name="Text 1"/>
          <p:cNvSpPr/>
          <p:nvPr/>
        </p:nvSpPr>
        <p:spPr>
          <a:xfrm>
            <a:off x="774879" y="2013843"/>
            <a:ext cx="2436652"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Inter" pitchFamily="34" charset="0"/>
                <a:ea typeface="Inter" pitchFamily="34" charset="-122"/>
                <a:cs typeface="Inter" pitchFamily="34" charset="-120"/>
              </a:rPr>
              <a:t>WAS ICH GELERNT HABE</a:t>
            </a:r>
            <a:endParaRPr lang="en-US" sz="1150" dirty="0"/>
          </a:p>
        </p:txBody>
      </p:sp>
      <p:sp>
        <p:nvSpPr>
          <p:cNvPr id="4" name="Text 2"/>
          <p:cNvSpPr/>
          <p:nvPr/>
        </p:nvSpPr>
        <p:spPr>
          <a:xfrm>
            <a:off x="661475" y="2319933"/>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Inter Bold" pitchFamily="34" charset="0"/>
                <a:ea typeface="Inter Bold" pitchFamily="34" charset="-122"/>
                <a:cs typeface="Inter Bold" pitchFamily="34" charset="-120"/>
              </a:rPr>
              <a:t>Technologien &amp; Kenntnisse</a:t>
            </a:r>
            <a:endParaRPr lang="en-US" sz="3700" dirty="0"/>
          </a:p>
        </p:txBody>
      </p:sp>
      <p:sp>
        <p:nvSpPr>
          <p:cNvPr id="5" name="Shape 3"/>
          <p:cNvSpPr/>
          <p:nvPr/>
        </p:nvSpPr>
        <p:spPr>
          <a:xfrm>
            <a:off x="661475" y="3194050"/>
            <a:ext cx="3496877" cy="1706662"/>
          </a:xfrm>
          <a:prstGeom prst="roundRect">
            <a:avLst>
              <a:gd name="adj" fmla="val 4652"/>
            </a:avLst>
          </a:prstGeom>
          <a:solidFill>
            <a:srgbClr val="E9ECF2"/>
          </a:solidFill>
          <a:ln w="6350">
            <a:solidFill>
              <a:srgbClr val="CFD2D8"/>
            </a:solidFill>
            <a:prstDash val="solid"/>
          </a:ln>
        </p:spPr>
        <p:txBody>
          <a:bodyPr/>
          <a:lstStyle/>
          <a:p>
            <a:endParaRPr lang="de-DE"/>
          </a:p>
        </p:txBody>
      </p:sp>
      <p:sp>
        <p:nvSpPr>
          <p:cNvPr id="6" name="Text 4"/>
          <p:cNvSpPr/>
          <p:nvPr/>
        </p:nvSpPr>
        <p:spPr>
          <a:xfrm>
            <a:off x="856832" y="3389412"/>
            <a:ext cx="3106164"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Programmierung</a:t>
            </a:r>
            <a:endParaRPr lang="en-US" sz="1850" dirty="0"/>
          </a:p>
        </p:txBody>
      </p:sp>
      <p:sp>
        <p:nvSpPr>
          <p:cNvPr id="7" name="Text 5"/>
          <p:cNvSpPr/>
          <p:nvPr/>
        </p:nvSpPr>
        <p:spPr>
          <a:xfrm>
            <a:off x="856832" y="3798094"/>
            <a:ext cx="310616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Grundlagen in Python und JavaScript, erste Schritte in der Webentwicklung</a:t>
            </a:r>
            <a:endParaRPr lang="en-US" sz="1450" dirty="0"/>
          </a:p>
        </p:txBody>
      </p:sp>
      <p:sp>
        <p:nvSpPr>
          <p:cNvPr id="8" name="Shape 6"/>
          <p:cNvSpPr/>
          <p:nvPr/>
        </p:nvSpPr>
        <p:spPr>
          <a:xfrm>
            <a:off x="4347359" y="3194050"/>
            <a:ext cx="3496877" cy="1706662"/>
          </a:xfrm>
          <a:prstGeom prst="roundRect">
            <a:avLst>
              <a:gd name="adj" fmla="val 4652"/>
            </a:avLst>
          </a:prstGeom>
          <a:solidFill>
            <a:srgbClr val="E9ECF2"/>
          </a:solidFill>
          <a:ln w="6350">
            <a:solidFill>
              <a:srgbClr val="CFD2D8"/>
            </a:solidFill>
            <a:prstDash val="solid"/>
          </a:ln>
        </p:spPr>
        <p:txBody>
          <a:bodyPr/>
          <a:lstStyle/>
          <a:p>
            <a:endParaRPr lang="de-DE"/>
          </a:p>
        </p:txBody>
      </p:sp>
      <p:sp>
        <p:nvSpPr>
          <p:cNvPr id="9" name="Text 7"/>
          <p:cNvSpPr/>
          <p:nvPr/>
        </p:nvSpPr>
        <p:spPr>
          <a:xfrm>
            <a:off x="4542716" y="3389412"/>
            <a:ext cx="3106164"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Git &amp; GitHub</a:t>
            </a:r>
            <a:endParaRPr lang="en-US" sz="1850" dirty="0"/>
          </a:p>
        </p:txBody>
      </p:sp>
      <p:sp>
        <p:nvSpPr>
          <p:cNvPr id="10" name="Text 8"/>
          <p:cNvSpPr/>
          <p:nvPr/>
        </p:nvSpPr>
        <p:spPr>
          <a:xfrm>
            <a:off x="4542716" y="3798094"/>
            <a:ext cx="310616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Grundlagen gelernt und ein Microsoft-Zertifikat erworben</a:t>
            </a:r>
            <a:endParaRPr lang="en-US" sz="1450" dirty="0"/>
          </a:p>
        </p:txBody>
      </p:sp>
      <p:sp>
        <p:nvSpPr>
          <p:cNvPr id="11" name="Shape 9"/>
          <p:cNvSpPr/>
          <p:nvPr/>
        </p:nvSpPr>
        <p:spPr>
          <a:xfrm>
            <a:off x="8033244" y="3194050"/>
            <a:ext cx="3496877" cy="1706662"/>
          </a:xfrm>
          <a:prstGeom prst="roundRect">
            <a:avLst>
              <a:gd name="adj" fmla="val 4652"/>
            </a:avLst>
          </a:prstGeom>
          <a:solidFill>
            <a:srgbClr val="E9ECF2"/>
          </a:solidFill>
          <a:ln w="6350">
            <a:solidFill>
              <a:srgbClr val="CFD2D8"/>
            </a:solidFill>
            <a:prstDash val="solid"/>
          </a:ln>
        </p:spPr>
        <p:txBody>
          <a:bodyPr/>
          <a:lstStyle/>
          <a:p>
            <a:endParaRPr lang="de-DE"/>
          </a:p>
        </p:txBody>
      </p:sp>
      <p:sp>
        <p:nvSpPr>
          <p:cNvPr id="12" name="Text 10"/>
          <p:cNvSpPr/>
          <p:nvPr/>
        </p:nvSpPr>
        <p:spPr>
          <a:xfrm>
            <a:off x="8228600" y="3389412"/>
            <a:ext cx="3106164"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Microsoft Power Platform</a:t>
            </a:r>
            <a:endParaRPr lang="en-US" sz="1850" dirty="0"/>
          </a:p>
        </p:txBody>
      </p:sp>
      <p:sp>
        <p:nvSpPr>
          <p:cNvPr id="13" name="Text 11"/>
          <p:cNvSpPr/>
          <p:nvPr/>
        </p:nvSpPr>
        <p:spPr>
          <a:xfrm>
            <a:off x="8228600" y="3798094"/>
            <a:ext cx="310616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Erste Einblicke in Low-Code-Tools von Microsoft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1935262"/>
            <a:ext cx="2338527" cy="287139"/>
          </a:xfrm>
          <a:prstGeom prst="roundRect">
            <a:avLst>
              <a:gd name="adj" fmla="val 22118"/>
            </a:avLst>
          </a:prstGeom>
          <a:solidFill>
            <a:srgbClr val="D7DFF4"/>
          </a:solidFill>
          <a:ln/>
        </p:spPr>
        <p:txBody>
          <a:bodyPr/>
          <a:lstStyle/>
          <a:p>
            <a:endParaRPr lang="de-DE"/>
          </a:p>
        </p:txBody>
      </p:sp>
      <p:sp>
        <p:nvSpPr>
          <p:cNvPr id="3" name="Text 1"/>
          <p:cNvSpPr/>
          <p:nvPr/>
        </p:nvSpPr>
        <p:spPr>
          <a:xfrm>
            <a:off x="774879" y="1991916"/>
            <a:ext cx="2721304"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Inter" pitchFamily="34" charset="0"/>
                <a:ea typeface="Inter" pitchFamily="34" charset="-122"/>
                <a:cs typeface="Inter" pitchFamily="34" charset="-120"/>
              </a:rPr>
              <a:t>PRAKTISCHE ERFAHRUNGEN</a:t>
            </a:r>
            <a:endParaRPr lang="en-US" sz="1150" dirty="0"/>
          </a:p>
        </p:txBody>
      </p:sp>
      <p:sp>
        <p:nvSpPr>
          <p:cNvPr id="4" name="Text 2"/>
          <p:cNvSpPr/>
          <p:nvPr/>
        </p:nvSpPr>
        <p:spPr>
          <a:xfrm>
            <a:off x="661475" y="2298005"/>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Inter Bold" pitchFamily="34" charset="0"/>
                <a:ea typeface="Inter Bold" pitchFamily="34" charset="-122"/>
                <a:cs typeface="Inter Bold" pitchFamily="34" charset="-120"/>
              </a:rPr>
              <a:t>Projekte &amp; Einsätze</a:t>
            </a:r>
            <a:endParaRPr lang="en-US" sz="3700" dirty="0"/>
          </a:p>
        </p:txBody>
      </p:sp>
      <p:sp>
        <p:nvSpPr>
          <p:cNvPr id="5" name="Shape 3"/>
          <p:cNvSpPr/>
          <p:nvPr/>
        </p:nvSpPr>
        <p:spPr>
          <a:xfrm>
            <a:off x="525350" y="3172123"/>
            <a:ext cx="5476043" cy="1750616"/>
          </a:xfrm>
          <a:prstGeom prst="roundRect">
            <a:avLst>
              <a:gd name="adj" fmla="val 7774"/>
            </a:avLst>
          </a:prstGeom>
          <a:solidFill>
            <a:srgbClr val="1B1744"/>
          </a:solidFill>
          <a:ln/>
        </p:spPr>
        <p:txBody>
          <a:bodyPr/>
          <a:lstStyle/>
          <a:p>
            <a:endParaRPr lang="de-DE"/>
          </a:p>
        </p:txBody>
      </p:sp>
      <p:sp>
        <p:nvSpPr>
          <p:cNvPr id="6" name="Text 4"/>
          <p:cNvSpPr/>
          <p:nvPr/>
        </p:nvSpPr>
        <p:spPr>
          <a:xfrm>
            <a:off x="714357" y="3361134"/>
            <a:ext cx="5098029" cy="295275"/>
          </a:xfrm>
          <a:prstGeom prst="rect">
            <a:avLst/>
          </a:prstGeom>
          <a:noFill/>
          <a:ln/>
        </p:spPr>
        <p:txBody>
          <a:bodyPr wrap="none" lIns="0" tIns="0" rIns="0" bIns="0" rtlCol="0" anchor="t"/>
          <a:lstStyle/>
          <a:p>
            <a:pPr marL="0" indent="0" algn="l">
              <a:lnSpc>
                <a:spcPct val="104000"/>
              </a:lnSpc>
              <a:buNone/>
            </a:pPr>
            <a:r>
              <a:rPr lang="en-US" sz="1850" b="1" dirty="0">
                <a:solidFill>
                  <a:srgbClr val="FFFFFF"/>
                </a:solidFill>
                <a:latin typeface="Inter Bold" pitchFamily="34" charset="0"/>
                <a:ea typeface="Inter Bold" pitchFamily="34" charset="-122"/>
                <a:cs typeface="Inter Bold" pitchFamily="34" charset="-120"/>
              </a:rPr>
              <a:t>Einsatz in Gießen</a:t>
            </a:r>
            <a:endParaRPr lang="en-US" sz="1850" dirty="0"/>
          </a:p>
        </p:txBody>
      </p:sp>
      <p:sp>
        <p:nvSpPr>
          <p:cNvPr id="7" name="Text 5"/>
          <p:cNvSpPr/>
          <p:nvPr/>
        </p:nvSpPr>
        <p:spPr>
          <a:xfrm>
            <a:off x="714357" y="3845421"/>
            <a:ext cx="509802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Inter" pitchFamily="34" charset="0"/>
                <a:ea typeface="Inter" pitchFamily="34" charset="-122"/>
                <a:cs typeface="Inter" pitchFamily="34" charset="-120"/>
              </a:rPr>
              <a:t>Windows-Updates an einer Hochschule durchgeführt und Systemeinstellungen angepasst.</a:t>
            </a:r>
            <a:endParaRPr lang="en-US" sz="1450" dirty="0"/>
          </a:p>
        </p:txBody>
      </p:sp>
      <p:sp>
        <p:nvSpPr>
          <p:cNvPr id="8" name="Text 6"/>
          <p:cNvSpPr/>
          <p:nvPr/>
        </p:nvSpPr>
        <p:spPr>
          <a:xfrm>
            <a:off x="6332776" y="3361134"/>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3257B8"/>
                </a:solidFill>
                <a:latin typeface="Inter Bold" pitchFamily="34" charset="0"/>
                <a:ea typeface="Inter Bold" pitchFamily="34" charset="-122"/>
                <a:cs typeface="Inter Bold" pitchFamily="34" charset="-120"/>
              </a:rPr>
              <a:t>Copilot Dashboard</a:t>
            </a:r>
            <a:endParaRPr lang="en-US" sz="1850" dirty="0"/>
          </a:p>
        </p:txBody>
      </p:sp>
      <p:sp>
        <p:nvSpPr>
          <p:cNvPr id="9" name="Text 7"/>
          <p:cNvSpPr/>
          <p:nvPr/>
        </p:nvSpPr>
        <p:spPr>
          <a:xfrm>
            <a:off x="6332776" y="3845421"/>
            <a:ext cx="520379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Internes Web-Projekt: Mitarbeiter können ihre eigene KI-Nutzung sehen — genutzte Modelle und monatliche Aktivität.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1678980"/>
            <a:ext cx="2607999" cy="287139"/>
          </a:xfrm>
          <a:prstGeom prst="roundRect">
            <a:avLst>
              <a:gd name="adj" fmla="val 22118"/>
            </a:avLst>
          </a:prstGeom>
          <a:solidFill>
            <a:srgbClr val="D7DFF4"/>
          </a:solidFill>
          <a:ln/>
        </p:spPr>
        <p:txBody>
          <a:bodyPr/>
          <a:lstStyle/>
          <a:p>
            <a:endParaRPr lang="de-DE"/>
          </a:p>
        </p:txBody>
      </p:sp>
      <p:sp>
        <p:nvSpPr>
          <p:cNvPr id="3" name="Text 1"/>
          <p:cNvSpPr/>
          <p:nvPr/>
        </p:nvSpPr>
        <p:spPr>
          <a:xfrm>
            <a:off x="774879" y="1735634"/>
            <a:ext cx="2990775"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Inter" pitchFamily="34" charset="0"/>
                <a:ea typeface="Inter" pitchFamily="34" charset="-122"/>
                <a:cs typeface="Inter" pitchFamily="34" charset="-120"/>
              </a:rPr>
              <a:t>WIE ICH DIE AUSBILDUNG FINDE</a:t>
            </a:r>
            <a:endParaRPr lang="en-US" sz="1150" dirty="0"/>
          </a:p>
        </p:txBody>
      </p:sp>
      <p:sp>
        <p:nvSpPr>
          <p:cNvPr id="4" name="Text 2"/>
          <p:cNvSpPr/>
          <p:nvPr/>
        </p:nvSpPr>
        <p:spPr>
          <a:xfrm>
            <a:off x="661475" y="2041723"/>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Inter Bold" pitchFamily="34" charset="0"/>
                <a:ea typeface="Inter Bold" pitchFamily="34" charset="-122"/>
                <a:cs typeface="Inter Bold" pitchFamily="34" charset="-120"/>
              </a:rPr>
              <a:t>Meine persönliche Einschätzung</a:t>
            </a:r>
            <a:endParaRPr lang="en-US" sz="3700" dirty="0"/>
          </a:p>
        </p:txBody>
      </p:sp>
      <p:sp>
        <p:nvSpPr>
          <p:cNvPr id="5" name="Text 3"/>
          <p:cNvSpPr/>
          <p:nvPr/>
        </p:nvSpPr>
        <p:spPr>
          <a:xfrm>
            <a:off x="661475" y="2915841"/>
            <a:ext cx="10868745"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Gleitzeit und flexible Absprachen</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Viel Freiraum beim Lernen</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Das Team hilft mir weiter und gibt mir Tipps</a:t>
            </a:r>
            <a:endParaRPr lang="en-US" sz="1450" dirty="0"/>
          </a:p>
        </p:txBody>
      </p:sp>
      <p:sp>
        <p:nvSpPr>
          <p:cNvPr id="6" name="Text 4"/>
          <p:cNvSpPr/>
          <p:nvPr/>
        </p:nvSpPr>
        <p:spPr>
          <a:xfrm>
            <a:off x="661475" y="4238724"/>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3257B8"/>
                </a:solidFill>
                <a:latin typeface="Inter Bold" pitchFamily="34" charset="0"/>
                <a:ea typeface="Inter Bold" pitchFamily="34" charset="-122"/>
                <a:cs typeface="Inter Bold" pitchFamily="34" charset="-120"/>
              </a:rPr>
              <a:t>Was am Anfang gefehlt hat</a:t>
            </a:r>
            <a:endParaRPr lang="en-US" sz="2200" dirty="0"/>
          </a:p>
        </p:txBody>
      </p:sp>
      <p:sp>
        <p:nvSpPr>
          <p:cNvPr id="7" name="Text 5"/>
          <p:cNvSpPr/>
          <p:nvPr/>
        </p:nvSpPr>
        <p:spPr>
          <a:xfrm>
            <a:off x="661475" y="4876602"/>
            <a:ext cx="11478330" cy="302419"/>
          </a:xfrm>
          <a:prstGeom prst="rect">
            <a:avLst/>
          </a:prstGeom>
          <a:noFill/>
          <a:ln/>
        </p:spPr>
        <p:txBody>
          <a:bodyPr wrap="none" lIns="0" tIns="0" rIns="0" bIns="0" rtlCol="0" anchor="t"/>
          <a:lstStyle/>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Am Anfang gab es keine klare Struktur beim Lernen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19807"/>
            <a:ext cx="1432484" cy="228898"/>
          </a:xfrm>
          <a:prstGeom prst="roundRect">
            <a:avLst>
              <a:gd name="adj" fmla="val 22110"/>
            </a:avLst>
          </a:prstGeom>
          <a:solidFill>
            <a:srgbClr val="D7DFF4"/>
          </a:solidFill>
          <a:ln/>
        </p:spPr>
        <p:txBody>
          <a:bodyPr/>
          <a:lstStyle/>
          <a:p>
            <a:endParaRPr lang="de-DE"/>
          </a:p>
        </p:txBody>
      </p:sp>
      <p:sp>
        <p:nvSpPr>
          <p:cNvPr id="3" name="Text 1"/>
          <p:cNvSpPr/>
          <p:nvPr/>
        </p:nvSpPr>
        <p:spPr>
          <a:xfrm>
            <a:off x="751762" y="564952"/>
            <a:ext cx="1861496" cy="138609"/>
          </a:xfrm>
          <a:prstGeom prst="rect">
            <a:avLst/>
          </a:prstGeom>
          <a:noFill/>
          <a:ln/>
        </p:spPr>
        <p:txBody>
          <a:bodyPr wrap="none" lIns="0" tIns="0" rIns="0" bIns="0" rtlCol="0" anchor="t"/>
          <a:lstStyle/>
          <a:p>
            <a:pPr marL="0" indent="0" algn="l">
              <a:lnSpc>
                <a:spcPct val="96000"/>
              </a:lnSpc>
              <a:buNone/>
            </a:pPr>
            <a:r>
              <a:rPr lang="en-US" sz="900" dirty="0">
                <a:solidFill>
                  <a:srgbClr val="272525"/>
                </a:solidFill>
                <a:latin typeface="Inter" pitchFamily="34" charset="0"/>
                <a:ea typeface="Inter" pitchFamily="34" charset="-122"/>
                <a:cs typeface="Inter" pitchFamily="34" charset="-120"/>
              </a:rPr>
              <a:t>ZIELE UND AUSBLICK</a:t>
            </a:r>
            <a:endParaRPr lang="en-US" sz="900" dirty="0"/>
          </a:p>
        </p:txBody>
      </p:sp>
      <p:sp>
        <p:nvSpPr>
          <p:cNvPr id="4" name="Text 2"/>
          <p:cNvSpPr/>
          <p:nvPr/>
        </p:nvSpPr>
        <p:spPr>
          <a:xfrm>
            <a:off x="661475" y="796627"/>
            <a:ext cx="10868745" cy="470595"/>
          </a:xfrm>
          <a:prstGeom prst="rect">
            <a:avLst/>
          </a:prstGeom>
          <a:noFill/>
          <a:ln/>
        </p:spPr>
        <p:txBody>
          <a:bodyPr wrap="none" lIns="0" tIns="0" rIns="0" bIns="0" rtlCol="0" anchor="t"/>
          <a:lstStyle/>
          <a:p>
            <a:pPr marL="0" indent="0" algn="l">
              <a:lnSpc>
                <a:spcPct val="104000"/>
              </a:lnSpc>
              <a:buNone/>
            </a:pPr>
            <a:r>
              <a:rPr lang="en-US" sz="2950" b="1" dirty="0">
                <a:solidFill>
                  <a:srgbClr val="3257B8"/>
                </a:solidFill>
                <a:latin typeface="Inter Bold" pitchFamily="34" charset="0"/>
                <a:ea typeface="Inter Bold" pitchFamily="34" charset="-122"/>
                <a:cs typeface="Inter Bold" pitchFamily="34" charset="-120"/>
              </a:rPr>
              <a:t>Was kommt als Nächstes</a:t>
            </a:r>
            <a:endParaRPr lang="en-US" sz="2950" dirty="0"/>
          </a:p>
        </p:txBody>
      </p:sp>
      <p:pic>
        <p:nvPicPr>
          <p:cNvPr id="5" name="Image 0" descr="preencoded.png"/>
          <p:cNvPicPr>
            <a:picLocks noChangeAspect="1"/>
          </p:cNvPicPr>
          <p:nvPr/>
        </p:nvPicPr>
        <p:blipFill>
          <a:blip r:embed="rId3"/>
          <a:stretch>
            <a:fillRect/>
          </a:stretch>
        </p:blipFill>
        <p:spPr>
          <a:xfrm>
            <a:off x="661475" y="1447205"/>
            <a:ext cx="10868745" cy="4890988"/>
          </a:xfrm>
          <a:prstGeom prst="rect">
            <a:avLst/>
          </a:prstGeom>
        </p:spPr>
      </p:pic>
      <p:sp>
        <p:nvSpPr>
          <p:cNvPr id="6" name="Text 3"/>
          <p:cNvSpPr/>
          <p:nvPr/>
        </p:nvSpPr>
        <p:spPr>
          <a:xfrm>
            <a:off x="2362872" y="1678756"/>
            <a:ext cx="1773657" cy="282173"/>
          </a:xfrm>
          <a:prstGeom prst="rect">
            <a:avLst/>
          </a:prstGeom>
          <a:noFill/>
          <a:ln/>
        </p:spPr>
        <p:txBody>
          <a:bodyPr wrap="none" lIns="0" tIns="0" rIns="0" bIns="0" rtlCol="0" anchor="t"/>
          <a:lstStyle/>
          <a:p>
            <a:pPr marL="0" indent="0" algn="ctr">
              <a:lnSpc>
                <a:spcPct val="94000"/>
              </a:lnSpc>
              <a:buNone/>
            </a:pPr>
            <a:r>
              <a:rPr lang="en-US" sz="1850" b="1" dirty="0">
                <a:solidFill>
                  <a:srgbClr val="272525"/>
                </a:solidFill>
                <a:latin typeface="Inter Bold" pitchFamily="34" charset="0"/>
                <a:ea typeface="Inter Bold" pitchFamily="34" charset="-122"/>
                <a:cs typeface="Inter Bold" pitchFamily="34" charset="-120"/>
              </a:rPr>
              <a:t>Programmieren</a:t>
            </a:r>
            <a:endParaRPr lang="en-US" sz="1850" dirty="0"/>
          </a:p>
        </p:txBody>
      </p:sp>
      <p:sp>
        <p:nvSpPr>
          <p:cNvPr id="7" name="Text 4"/>
          <p:cNvSpPr/>
          <p:nvPr/>
        </p:nvSpPr>
        <p:spPr>
          <a:xfrm>
            <a:off x="2298699" y="2036860"/>
            <a:ext cx="1902004" cy="422279"/>
          </a:xfrm>
          <a:prstGeom prst="rect">
            <a:avLst/>
          </a:prstGeom>
          <a:noFill/>
          <a:ln/>
        </p:spPr>
        <p:txBody>
          <a:bodyPr wrap="square" lIns="0" tIns="0" rIns="0" bIns="0" rtlCol="0" anchor="t">
            <a:normAutofit/>
          </a:bodyPr>
          <a:lstStyle/>
          <a:p>
            <a:pPr marL="0" indent="0" algn="ctr">
              <a:lnSpc>
                <a:spcPct val="94000"/>
              </a:lnSpc>
              <a:buNone/>
            </a:pPr>
            <a:r>
              <a:rPr lang="en-US" sz="1450" dirty="0">
                <a:solidFill>
                  <a:srgbClr val="272525"/>
                </a:solidFill>
                <a:latin typeface="Inter" pitchFamily="34" charset="0"/>
                <a:ea typeface="Inter" pitchFamily="34" charset="-122"/>
                <a:cs typeface="Inter" pitchFamily="34" charset="-120"/>
              </a:rPr>
              <a:t>Mehr üben, sicherer werden</a:t>
            </a:r>
            <a:endParaRPr lang="en-US" sz="1450" dirty="0"/>
          </a:p>
        </p:txBody>
      </p:sp>
      <p:sp>
        <p:nvSpPr>
          <p:cNvPr id="8" name="Text 5"/>
          <p:cNvSpPr/>
          <p:nvPr/>
        </p:nvSpPr>
        <p:spPr>
          <a:xfrm>
            <a:off x="4179801" y="5342588"/>
            <a:ext cx="1912454" cy="293929"/>
          </a:xfrm>
          <a:prstGeom prst="rect">
            <a:avLst/>
          </a:prstGeom>
          <a:noFill/>
          <a:ln/>
        </p:spPr>
        <p:txBody>
          <a:bodyPr wrap="none" lIns="0" tIns="0" rIns="0" bIns="0" rtlCol="0" anchor="t"/>
          <a:lstStyle/>
          <a:p>
            <a:pPr marL="0" indent="0" algn="ctr">
              <a:lnSpc>
                <a:spcPct val="104000"/>
              </a:lnSpc>
              <a:buNone/>
            </a:pPr>
            <a:r>
              <a:rPr lang="en-US" sz="1850" b="1" dirty="0">
                <a:solidFill>
                  <a:srgbClr val="272525"/>
                </a:solidFill>
                <a:latin typeface="Inter Bold" pitchFamily="34" charset="0"/>
                <a:ea typeface="Inter Bold" pitchFamily="34" charset="-122"/>
                <a:cs typeface="Inter Bold" pitchFamily="34" charset="-120"/>
              </a:rPr>
              <a:t>AP1 &amp; AP2</a:t>
            </a:r>
            <a:endParaRPr lang="en-US" sz="1850" dirty="0"/>
          </a:p>
        </p:txBody>
      </p:sp>
      <p:sp>
        <p:nvSpPr>
          <p:cNvPr id="9" name="Text 6"/>
          <p:cNvSpPr/>
          <p:nvPr/>
        </p:nvSpPr>
        <p:spPr>
          <a:xfrm>
            <a:off x="4179801" y="5720124"/>
            <a:ext cx="1912454" cy="422279"/>
          </a:xfrm>
          <a:prstGeom prst="rect">
            <a:avLst/>
          </a:prstGeom>
          <a:noFill/>
          <a:ln/>
        </p:spPr>
        <p:txBody>
          <a:bodyPr wrap="square" lIns="0" tIns="0" rIns="0" bIns="0" rtlCol="0" anchor="t">
            <a:normAutofit/>
          </a:bodyPr>
          <a:lstStyle/>
          <a:p>
            <a:pPr marL="0" indent="0" algn="ctr">
              <a:lnSpc>
                <a:spcPct val="94000"/>
              </a:lnSpc>
              <a:buNone/>
            </a:pPr>
            <a:r>
              <a:rPr lang="en-US" sz="1450" dirty="0">
                <a:solidFill>
                  <a:srgbClr val="272525"/>
                </a:solidFill>
                <a:latin typeface="Inter" pitchFamily="34" charset="0"/>
                <a:ea typeface="Inter" pitchFamily="34" charset="-122"/>
                <a:cs typeface="Inter" pitchFamily="34" charset="-120"/>
              </a:rPr>
              <a:t>Prüfungen erfolgreich bestehen</a:t>
            </a:r>
            <a:endParaRPr lang="en-US" sz="1450" dirty="0"/>
          </a:p>
        </p:txBody>
      </p:sp>
      <p:sp>
        <p:nvSpPr>
          <p:cNvPr id="10" name="Text 7"/>
          <p:cNvSpPr/>
          <p:nvPr/>
        </p:nvSpPr>
        <p:spPr>
          <a:xfrm>
            <a:off x="6040002" y="1449491"/>
            <a:ext cx="1902003" cy="881789"/>
          </a:xfrm>
          <a:prstGeom prst="rect">
            <a:avLst/>
          </a:prstGeom>
          <a:noFill/>
          <a:ln/>
        </p:spPr>
        <p:txBody>
          <a:bodyPr wrap="square" lIns="0" tIns="0" rIns="0" bIns="0" rtlCol="0" anchor="t">
            <a:normAutofit/>
          </a:bodyPr>
          <a:lstStyle/>
          <a:p>
            <a:pPr marL="0" indent="0" algn="ctr">
              <a:lnSpc>
                <a:spcPct val="104000"/>
              </a:lnSpc>
              <a:buNone/>
            </a:pPr>
            <a:r>
              <a:rPr lang="en-US" sz="1850" b="1" dirty="0">
                <a:solidFill>
                  <a:srgbClr val="272525"/>
                </a:solidFill>
                <a:latin typeface="Inter Bold" pitchFamily="34" charset="0"/>
                <a:ea typeface="Inter Bold" pitchFamily="34" charset="-122"/>
                <a:cs typeface="Inter Bold" pitchFamily="34" charset="-120"/>
              </a:rPr>
              <a:t>Neue IT-Bereiche kennenlernen</a:t>
            </a:r>
            <a:endParaRPr lang="en-US" sz="1850" dirty="0"/>
          </a:p>
        </p:txBody>
      </p:sp>
      <p:sp>
        <p:nvSpPr>
          <p:cNvPr id="11" name="Text 8"/>
          <p:cNvSpPr/>
          <p:nvPr/>
        </p:nvSpPr>
        <p:spPr>
          <a:xfrm>
            <a:off x="6040002" y="2414886"/>
            <a:ext cx="1902003" cy="211139"/>
          </a:xfrm>
          <a:prstGeom prst="rect">
            <a:avLst/>
          </a:prstGeom>
          <a:noFill/>
          <a:ln/>
        </p:spPr>
        <p:txBody>
          <a:bodyPr wrap="none" lIns="0" tIns="0" rIns="0" bIns="0" rtlCol="0" anchor="t"/>
          <a:lstStyle/>
          <a:p>
            <a:pPr marL="0" indent="0" algn="ctr">
              <a:lnSpc>
                <a:spcPct val="94000"/>
              </a:lnSpc>
              <a:buNone/>
            </a:pPr>
            <a:r>
              <a:rPr lang="en-US" sz="1450" dirty="0">
                <a:solidFill>
                  <a:srgbClr val="272525"/>
                </a:solidFill>
                <a:latin typeface="Inter" pitchFamily="34" charset="0"/>
                <a:ea typeface="Inter" pitchFamily="34" charset="-122"/>
                <a:cs typeface="Inter" pitchFamily="34" charset="-120"/>
              </a:rPr>
              <a:t>Cloud/IT-Sicherheit</a:t>
            </a:r>
            <a:endParaRPr lang="en-US" sz="1450" dirty="0"/>
          </a:p>
        </p:txBody>
      </p:sp>
      <p:sp>
        <p:nvSpPr>
          <p:cNvPr id="12" name="Text 9"/>
          <p:cNvSpPr/>
          <p:nvPr/>
        </p:nvSpPr>
        <p:spPr>
          <a:xfrm>
            <a:off x="7921104" y="5195623"/>
            <a:ext cx="1902004" cy="587859"/>
          </a:xfrm>
          <a:prstGeom prst="rect">
            <a:avLst/>
          </a:prstGeom>
          <a:noFill/>
          <a:ln/>
        </p:spPr>
        <p:txBody>
          <a:bodyPr wrap="square" lIns="0" tIns="0" rIns="0" bIns="0" rtlCol="0" anchor="t">
            <a:normAutofit/>
          </a:bodyPr>
          <a:lstStyle/>
          <a:p>
            <a:pPr marL="0" indent="0" algn="ctr">
              <a:lnSpc>
                <a:spcPct val="104000"/>
              </a:lnSpc>
              <a:buNone/>
            </a:pPr>
            <a:r>
              <a:rPr lang="en-US" sz="1850" b="1" dirty="0">
                <a:solidFill>
                  <a:srgbClr val="272525"/>
                </a:solidFill>
                <a:latin typeface="Inter Bold" pitchFamily="34" charset="0"/>
                <a:ea typeface="Inter Bold" pitchFamily="34" charset="-122"/>
                <a:cs typeface="Inter Bold" pitchFamily="34" charset="-120"/>
              </a:rPr>
              <a:t>Berufliche Richtung</a:t>
            </a:r>
            <a:endParaRPr lang="en-US" sz="1850" dirty="0"/>
          </a:p>
        </p:txBody>
      </p:sp>
      <p:sp>
        <p:nvSpPr>
          <p:cNvPr id="13" name="Text 10"/>
          <p:cNvSpPr/>
          <p:nvPr/>
        </p:nvSpPr>
        <p:spPr>
          <a:xfrm>
            <a:off x="7921104" y="5867089"/>
            <a:ext cx="1902004" cy="422279"/>
          </a:xfrm>
          <a:prstGeom prst="rect">
            <a:avLst/>
          </a:prstGeom>
          <a:noFill/>
          <a:ln/>
        </p:spPr>
        <p:txBody>
          <a:bodyPr wrap="square" lIns="0" tIns="0" rIns="0" bIns="0" rtlCol="0" anchor="t">
            <a:normAutofit/>
          </a:bodyPr>
          <a:lstStyle/>
          <a:p>
            <a:pPr marL="0" indent="0" algn="ctr">
              <a:lnSpc>
                <a:spcPct val="94000"/>
              </a:lnSpc>
              <a:buNone/>
            </a:pPr>
            <a:r>
              <a:rPr lang="en-US" sz="1450" dirty="0">
                <a:solidFill>
                  <a:srgbClr val="272525"/>
                </a:solidFill>
                <a:latin typeface="Inter" pitchFamily="34" charset="0"/>
                <a:ea typeface="Inter" pitchFamily="34" charset="-122"/>
                <a:cs typeface="Inter" pitchFamily="34" charset="-120"/>
              </a:rPr>
              <a:t>Spezialisierung weiter klären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3133626"/>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Inter Bold" pitchFamily="34" charset="0"/>
                <a:ea typeface="Inter Bold" pitchFamily="34" charset="-122"/>
                <a:cs typeface="Inter Bold" pitchFamily="34" charset="-120"/>
              </a:rPr>
              <a:t>Vielen Dank für eure Aufmerksamkeit.</a:t>
            </a:r>
            <a:endParaRPr lang="en-US" sz="3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744</Words>
  <Application>Microsoft Office PowerPoint</Application>
  <PresentationFormat>Widescreen</PresentationFormat>
  <Paragraphs>69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Inter</vt:lpstr>
      <vt:lpstr>Inter Light</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Kirill Petrozhitskii</cp:lastModifiedBy>
  <cp:revision>1</cp:revision>
  <dcterms:created xsi:type="dcterms:W3CDTF">2026-09-27T18:35:23Z</dcterms:created>
  <dcterms:modified xsi:type="dcterms:W3CDTF">2026-09-27T21:13:23Z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06d8d79-7fc7-4327-aa66-d51802cd2ab2_Enabled">
    <vt:lpwstr>true</vt:lpwstr>
  </property>
  <property fmtid="{D5CDD505-2E9C-101B-9397-08002B2CF9AE}" pid="3" name="MSIP_Label_d06d8d79-7fc7-4327-aa66-d51802cd2ab2_SetDate">
    <vt:lpwstr>2026-09-27T21:13:10Z</vt:lpwstr>
  </property>
  <property fmtid="{D5CDD505-2E9C-101B-9397-08002B2CF9AE}" pid="4" name="MSIP_Label_d06d8d79-7fc7-4327-aa66-d51802cd2ab2_Method">
    <vt:lpwstr>Privileged</vt:lpwstr>
  </property>
  <property fmtid="{D5CDD505-2E9C-101B-9397-08002B2CF9AE}" pid="5" name="MSIP_Label_d06d8d79-7fc7-4327-aa66-d51802cd2ab2_Name">
    <vt:lpwstr>Public</vt:lpwstr>
  </property>
  <property fmtid="{D5CDD505-2E9C-101B-9397-08002B2CF9AE}" pid="6" name="MSIP_Label_d06d8d79-7fc7-4327-aa66-d51802cd2ab2_SiteId">
    <vt:lpwstr>e3cf3c98-a978-465f-8254-9d541eeea73c</vt:lpwstr>
  </property>
  <property fmtid="{D5CDD505-2E9C-101B-9397-08002B2CF9AE}" pid="7" name="MSIP_Label_d06d8d79-7fc7-4327-aa66-d51802cd2ab2_ActionId">
    <vt:lpwstr>465d99b3-42d3-4490-a216-d7bf38a7140f</vt:lpwstr>
  </property>
  <property fmtid="{D5CDD505-2E9C-101B-9397-08002B2CF9AE}" pid="8" name="MSIP_Label_d06d8d79-7fc7-4327-aa66-d51802cd2ab2_ContentBits">
    <vt:lpwstr>2</vt:lpwstr>
  </property>
  <property fmtid="{D5CDD505-2E9C-101B-9397-08002B2CF9AE}" pid="9" name="MSIP_Label_d06d8d79-7fc7-4327-aa66-d51802cd2ab2_Tag">
    <vt:lpwstr>10, 0, 1, 1</vt:lpwstr>
  </property>
  <property fmtid="{D5CDD505-2E9C-101B-9397-08002B2CF9AE}" pid="10" name="ClassificationContentMarkingFooterLocations">
    <vt:lpwstr>Office Theme:3</vt:lpwstr>
  </property>
  <property fmtid="{D5CDD505-2E9C-101B-9397-08002B2CF9AE}" pid="11" name="ClassificationContentMarkingFooterText">
    <vt:lpwstr>Sensitivity Label: Public</vt:lpwstr>
  </property>
</Properties>
</file>